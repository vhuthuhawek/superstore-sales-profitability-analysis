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8C83"/>
                </a:solidFill>
                <a:latin typeface="Aptos"/>
              </a:defRPr>
            </a:pPr>
            <a:r>
              <a:t>NEXAFRICA DATA ANALYST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SUPERSTORE SALES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&amp; PROFITABILITY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6576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DAE2EE"/>
                </a:solidFill>
                <a:latin typeface="Aptos"/>
              </a:defRPr>
            </a:pPr>
            <a:r>
              <a:t>End-to-end data analytics capstone |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21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Prepared by: Vhuthuhawe Khorombi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60807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ECCE0"/>
                </a:solidFill>
                <a:latin typeface="Aptos"/>
              </a:defRPr>
            </a:pPr>
            <a:r>
              <a:t>Cleaning • Python EDA • SQL • Power BI •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1. Business problem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What should the analysis help the business understand?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1051560" cy="50292"/>
          </a:xfrm>
          <a:prstGeom prst="rect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68C83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7365D"/>
                </a:solidFill>
                <a:latin typeface="Aptos"/>
              </a:defRPr>
            </a:pPr>
            <a:r>
              <a:t>Understand how sales, discounts, product categories and regional performance relate to profitability.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68C83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Measure sales, profit, quantity and margin.</a:t>
            </a:r>
          </a:p>
          <a:p>
            <a:pPr>
              <a:spcAft>
                <a:spcPts val="7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Compare category, sub-category and regional performance.</a:t>
            </a:r>
          </a:p>
          <a:p>
            <a:pPr>
              <a:spcAft>
                <a:spcPts val="7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Identify discount bands and products associated with losses.</a:t>
            </a:r>
          </a:p>
          <a:p>
            <a:pPr>
              <a:spcAft>
                <a:spcPts val="7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Translate findings into practical recommendations.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D07E2D"/>
                </a:solidFill>
                <a:latin typeface="Aptos"/>
              </a:defRPr>
            </a:pPr>
            <a:r>
              <a:t>Caution: this is observational analysis; the dataset alone cannot prove why losses occurred.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NEXAFRICA DATA ANALYST INTERNSHIP  |  SUPERSTORE CAPSTONE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2. Dataset and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From raw records to business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1051560" cy="50292"/>
          </a:xfrm>
          <a:prstGeom prst="rect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9,994 order-line records and 21 columns.</a:t>
            </a:r>
          </a:p>
          <a:p>
            <a:pPr>
              <a:spcAft>
                <a:spcPts val="7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Quality checks: missing values, duplicates, types and dates.</a:t>
            </a:r>
          </a:p>
          <a:p>
            <a:pPr>
              <a:spcAft>
                <a:spcPts val="7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Python/pandas: cleaning, summaries and exploratory analysis.</a:t>
            </a:r>
          </a:p>
          <a:p>
            <a:pPr>
              <a:spcAft>
                <a:spcPts val="7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SQL: structured business questions and aggregations.</a:t>
            </a:r>
          </a:p>
          <a:p>
            <a:pPr>
              <a:spcAft>
                <a:spcPts val="7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Power BI: dashboard and visual storytelling.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743200"/>
            <a:ext cx="960120" cy="914400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RAW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42048" y="2743200"/>
            <a:ext cx="960120" cy="914400"/>
          </a:xfrm>
          <a:prstGeom prst="roundRect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CLEANING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7616" y="2743200"/>
            <a:ext cx="960120" cy="914400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73184" y="2743200"/>
            <a:ext cx="960120" cy="914400"/>
          </a:xfrm>
          <a:prstGeom prst="roundRect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88752" y="2743200"/>
            <a:ext cx="960120" cy="914400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1605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7365D"/>
                </a:solidFill>
                <a:latin typeface="Aptos"/>
              </a:defRPr>
            </a:pPr>
            <a:r>
              <a:t>Quality result: 9,994 rows • 21 columns</a:t>
            </a:r>
          </a:p>
          <a:p>
            <a:pPr>
              <a:spcAft>
                <a:spcPts val="700"/>
              </a:spcAft>
              <a:defRPr sz="1700" b="1">
                <a:solidFill>
                  <a:srgbClr val="17365D"/>
                </a:solidFill>
                <a:latin typeface="Aptos"/>
              </a:defRPr>
            </a:pPr>
            <a:r>
              <a:t>0 missing values • 0 duplicate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NEXAFRICA DATA ANALYST INTERNSHIP  |  SUPERSTORE CAPSTONE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3. 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Overall performance across the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1051560" cy="50292"/>
          </a:xfrm>
          <a:prstGeom prst="rect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606040" cy="1234440"/>
          </a:xfrm>
          <a:prstGeom prst="round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0136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748B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365D"/>
                </a:solidFill>
                <a:latin typeface="Aptos"/>
              </a:defRPr>
            </a:pPr>
            <a:r>
              <a:t>$2.30M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All order 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91640"/>
            <a:ext cx="2606040" cy="1234440"/>
          </a:xfrm>
          <a:prstGeom prst="round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0136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748B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08483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365D"/>
                </a:solidFill>
                <a:latin typeface="Aptos"/>
              </a:defRPr>
            </a:pPr>
            <a:r>
              <a:t>$286.40K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57860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Positive overall profit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91640"/>
            <a:ext cx="2606040" cy="1234440"/>
          </a:xfrm>
          <a:prstGeom prst="round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801368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748B"/>
                </a:solidFill>
                <a:latin typeface="Aptos"/>
              </a:defRPr>
            </a:pPr>
            <a:r>
              <a:t>QUANTITY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8483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365D"/>
                </a:solidFill>
                <a:latin typeface="Aptos"/>
              </a:defRPr>
            </a:pPr>
            <a:r>
              <a:t>37,873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57860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Units recorded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691640"/>
            <a:ext cx="2240280" cy="1234440"/>
          </a:xfrm>
          <a:prstGeom prst="round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801368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748B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08483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365D"/>
                </a:solidFill>
                <a:latin typeface="Aptos"/>
              </a:defRPr>
            </a:pPr>
            <a:r>
              <a:t>12.47%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578608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Profit ÷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576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8C83"/>
                </a:solidFill>
                <a:latin typeface="Aptos"/>
              </a:defRPr>
            </a:pPr>
            <a:r>
              <a:t>WHAT THIS TELLS 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The business is profitable overall.</a:t>
            </a:r>
          </a:p>
          <a:p>
            <a:pPr>
              <a:spcAft>
                <a:spcPts val="7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Overall results can hide losses in specific categories, products and regions.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57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68C83"/>
                </a:solidFill>
                <a:latin typeface="Aptos"/>
              </a:defRPr>
            </a:pPr>
            <a:r>
              <a:t>CALCULATION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148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Profit margin = total profit divided by total sales. Values are rounded for presentation.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NEXAFRICA DATA ANALYST INTERNSHIP  |  SUPERSTORE CAPSTONE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4. Category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Technology leads on profit; Furniture has a much thinner margin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1051560" cy="50292"/>
          </a:xfrm>
          <a:prstGeom prst="rect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9164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737360"/>
                <a:gridCol w="182880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Margin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$836.15K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$145.45K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17.40%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Office Supplies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$719.05K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$122.49K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17.04%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Furniture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$742.00K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$18.45K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2.49%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5820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68C83"/>
                </a:solidFill>
                <a:latin typeface="Aptos"/>
              </a:defRPr>
            </a:pPr>
            <a:r>
              <a:t>MAIN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24028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7365D"/>
                </a:solidFill>
                <a:latin typeface="Aptos"/>
              </a:defRPr>
            </a:pPr>
            <a:r>
              <a:t>Furniture contributes substantial sales but comparatively little profit.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D3748"/>
                </a:solidFill>
                <a:latin typeface="Aptos"/>
              </a:defRPr>
            </a:pPr>
            <a:r>
              <a:t>Investigate whether product mix, costs, pricing or discounts contribute to Furniture’s low margin.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NEXAFRICA DATA ANALYST INTERNSHIP  |  SUPERSTORE 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5. Product and sub-category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Some products and sub-categories generate losses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1051560" cy="50292"/>
          </a:xfrm>
          <a:prstGeom prst="rect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68580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58293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Sub-category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$206,965.53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-$17,725.48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Bookcases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$114,880.00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-$3,472.56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Supplies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$46,673.54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-$1,189.10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3816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D07E2D"/>
                </a:solidFill>
                <a:latin typeface="Aptos"/>
              </a:defRPr>
            </a:pPr>
            <a:r>
              <a:t>PRIORITY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194560"/>
            <a:ext cx="2971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7365D"/>
                </a:solidFill>
                <a:latin typeface="Aptos"/>
              </a:defRPr>
            </a:pPr>
            <a:r>
              <a:t>Tables is the largest loss-making sub-category by total profit in this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Review pricing, product costs, returns and discounting before making assortment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NEXAFRICA DATA ANALYST INTERNSHIP  |  SUPERSTORE 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6. Discount and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Higher discount bands show negative aggregate profit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1051560" cy="50292"/>
          </a:xfrm>
          <a:prstGeom prst="rect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00200"/>
          <a:ext cx="68580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697480"/>
                <a:gridCol w="269748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Discount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$1,087,908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$320,987.60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$764,594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$90,337.31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$103,226.70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-$10,369.28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$116,417.80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-$23,057.05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$40,620.28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-$40,075.36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$16,963.76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-$30,539.04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3816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D07E2D"/>
                </a:solidFill>
                <a:latin typeface="Aptos"/>
              </a:defRPr>
            </a:pPr>
            <a:r>
              <a:t>INTERPRET CAREFULLY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24028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7365D"/>
                </a:solidFill>
                <a:latin typeface="Aptos"/>
              </a:defRPr>
            </a:pPr>
            <a:r>
              <a:t>Discount bands of 30% and above have negative aggregate profit here, but this does not prove discounts caused losses.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NEXAFRICA DATA ANALYST INTERNSHIP  |  SUPERSTORE 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7. Regional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Central has the lowest profit margin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1051560" cy="50292"/>
          </a:xfrm>
          <a:prstGeom prst="rect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45920"/>
          <a:ext cx="75438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920240"/>
                <a:gridCol w="1920240"/>
                <a:gridCol w="2148840"/>
              </a:tblGrid>
              <a:tr h="56692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Margin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$725.46K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$108.42K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14.94%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East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$678.78K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$91.52K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13.48%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$391.72K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$46.75K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11.93%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Central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$501.24K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$39.71K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748"/>
                          </a:solidFill>
                          <a:latin typeface="Aptos"/>
                        </a:defRPr>
                      </a:pPr>
                      <a:r>
                        <a:t>7.92%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9536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68C83"/>
                </a:solidFill>
                <a:latin typeface="Aptos"/>
              </a:defRPr>
            </a:pPr>
            <a:r>
              <a:t>FOCUS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3317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7365D"/>
                </a:solidFill>
                <a:latin typeface="Aptos"/>
              </a:defRPr>
            </a:pPr>
            <a:r>
              <a:t>Central: investigate product mix, discount patterns and costs.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834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4748B"/>
                </a:solidFill>
                <a:latin typeface="Aptos"/>
              </a:defRPr>
            </a:pPr>
            <a:r>
              <a:t>A low margin is a signal for further analysis, not proof of a single cause.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NEXAFRICA DATA ANALYST INTERNSHIP  |  SUPERSTORE 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8. Tools and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How the project turns data into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1051560" cy="50292"/>
          </a:xfrm>
          <a:prstGeom prst="rect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Python/pandas: validation, cleaning and EDA.</a:t>
            </a:r>
          </a:p>
          <a:p>
            <a:pPr>
              <a:spcAft>
                <a:spcPts val="7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SQL: repeatable KPI, category, region and discount queries.</a:t>
            </a:r>
          </a:p>
          <a:p>
            <a:pPr>
              <a:spcAft>
                <a:spcPts val="7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Power BI: KPI cards, category/sub-category visuals, monthly trends, regional profit and product rankings.</a:t>
            </a:r>
          </a:p>
          <a:p>
            <a:pPr>
              <a:spcAft>
                <a:spcPts val="700"/>
              </a:spcAft>
              <a:defRPr sz="1700" b="0">
                <a:solidFill>
                  <a:srgbClr val="2D3748"/>
                </a:solidFill>
                <a:latin typeface="Aptos"/>
              </a:defRPr>
            </a:pPr>
            <a:r>
              <a:t>•  Slicers let users explore the results by relevant dimensions.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4937760" cy="3566160"/>
          </a:xfrm>
          <a:prstGeom prst="round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920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7365D"/>
                </a:solidFill>
                <a:latin typeface="Aptos"/>
              </a:defRPr>
            </a:pPr>
            <a:r>
              <a:t>SUPERSTORE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423160"/>
            <a:ext cx="1353312" cy="1234440"/>
          </a:xfrm>
          <a:prstGeom prst="round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532888"/>
            <a:ext cx="1078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748B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816352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365D"/>
                </a:solidFill>
                <a:latin typeface="Aptos"/>
              </a:defRPr>
            </a:pPr>
            <a:r>
              <a:t>$2.30M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310128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8110728" y="2423160"/>
            <a:ext cx="1353312" cy="1234440"/>
          </a:xfrm>
          <a:prstGeom prst="round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2532888"/>
            <a:ext cx="1078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748B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816352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365D"/>
                </a:solidFill>
                <a:latin typeface="Aptos"/>
              </a:defRPr>
            </a:pPr>
            <a:r>
              <a:t>$286K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3310128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9592056" y="2423160"/>
            <a:ext cx="1353312" cy="1234440"/>
          </a:xfrm>
          <a:prstGeom prst="round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9216" y="2532888"/>
            <a:ext cx="1078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4748B"/>
                </a:solidFill>
                <a:latin typeface="Aptos"/>
              </a:defRPr>
            </a:pPr>
            <a:r>
              <a:t>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6" y="2816352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365D"/>
                </a:solidFill>
                <a:latin typeface="Aptos"/>
              </a:defRPr>
            </a:pPr>
            <a:r>
              <a:t>12.47%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9216" y="3310128"/>
            <a:ext cx="1078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6812280" y="4114800"/>
            <a:ext cx="256032" cy="640080"/>
          </a:xfrm>
          <a:prstGeom prst="rect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7768" y="3657600"/>
            <a:ext cx="256032" cy="109728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63256" y="3931920"/>
            <a:ext cx="256032" cy="822960"/>
          </a:xfrm>
          <a:prstGeom prst="rect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38744" y="3291840"/>
            <a:ext cx="256032" cy="146304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14232" y="3703320"/>
            <a:ext cx="256032" cy="1051560"/>
          </a:xfrm>
          <a:prstGeom prst="rect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692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D07E2D"/>
                </a:solidFill>
                <a:latin typeface="Aptos"/>
              </a:defRPr>
            </a:pPr>
            <a:r>
              <a:t>Replace this illustrative mock-up with a screenshot of your actual Power BI dashboard.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NEXAFRICA DATA ANALYST INTERNSHIP  |  SUPERSTORE CAPSTONE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9.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Turn findings into a focused action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1051560" cy="50292"/>
          </a:xfrm>
          <a:prstGeom prst="rect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600200"/>
            <a:ext cx="438912" cy="438912"/>
          </a:xfrm>
          <a:prstGeom prst="ellipse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8191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7365D"/>
                </a:solidFill>
                <a:latin typeface="Aptos"/>
              </a:defRPr>
            </a:pPr>
            <a:r>
              <a:t>Investigate Furniture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581912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D3748"/>
                </a:solidFill>
                <a:latin typeface="Aptos"/>
              </a:defRPr>
            </a:pPr>
            <a:r>
              <a:t>Break down margin by sub-category, product, discount and cost.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459736"/>
            <a:ext cx="438912" cy="438912"/>
          </a:xfrm>
          <a:prstGeom prst="ellipse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4144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7365D"/>
                </a:solidFill>
                <a:latin typeface="Aptos"/>
              </a:defRPr>
            </a:pPr>
            <a:r>
              <a:t>Review Tables losses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441448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D3748"/>
                </a:solidFill>
                <a:latin typeface="Aptos"/>
              </a:defRPr>
            </a:pPr>
            <a:r>
              <a:t>Validate pricing, unit costs, returns and discount levels.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319272"/>
            <a:ext cx="438912" cy="438912"/>
          </a:xfrm>
          <a:prstGeom prst="ellipse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300984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7365D"/>
                </a:solidFill>
                <a:latin typeface="Aptos"/>
              </a:defRPr>
            </a:pPr>
            <a:r>
              <a:t>Evaluate discount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300984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D3748"/>
                </a:solidFill>
                <a:latin typeface="Aptos"/>
              </a:defRPr>
            </a:pPr>
            <a:r>
              <a:t>Compare profit by discount band while accounting for product and region.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178808"/>
            <a:ext cx="438912" cy="438912"/>
          </a:xfrm>
          <a:prstGeom prst="ellipse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60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7365D"/>
                </a:solidFill>
                <a:latin typeface="Aptos"/>
              </a:defRPr>
            </a:pPr>
            <a:r>
              <a:t>Study Central 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160520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D3748"/>
                </a:solidFill>
                <a:latin typeface="Aptos"/>
              </a:defRPr>
            </a:pPr>
            <a:r>
              <a:t>Drill into categories and products behind the 7.92% margin.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038344"/>
            <a:ext cx="438912" cy="438912"/>
          </a:xfrm>
          <a:prstGeom prst="ellipse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02005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7365D"/>
                </a:solidFill>
                <a:latin typeface="Aptos"/>
              </a:defRPr>
            </a:pPr>
            <a:r>
              <a:t>Track KPIs monthly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020056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D3748"/>
                </a:solidFill>
                <a:latin typeface="Aptos"/>
              </a:defRPr>
            </a:pPr>
            <a:r>
              <a:t>Monitor sales, profit, margin and loss-making products in Power BI.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NEXAFRICA DATA ANALYST INTERNSHIP  |  SUPERSTORE CAPSTONE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365D"/>
                </a:solidFill>
                <a:latin typeface="Aptos"/>
              </a:defRPr>
            </a:pPr>
            <a:r>
              <a:t>10. 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Validate before acting on the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1051560" cy="50292"/>
          </a:xfrm>
          <a:prstGeom prst="rect">
            <a:avLst/>
          </a:prstGeom>
          <a:solidFill>
            <a:srgbClr val="16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Historical transactions may not include all cost drivers.</a:t>
            </a:r>
          </a:p>
          <a:p>
            <a:pPr>
              <a:spcAft>
                <a:spcPts val="7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Associations between discounts and losses do not establish causation.</a:t>
            </a:r>
          </a:p>
          <a:p>
            <a:pPr>
              <a:spcAft>
                <a:spcPts val="7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Validate dashboard totals and filters against cleaned data and SQL outputs.</a:t>
            </a:r>
          </a:p>
          <a:p>
            <a:pPr>
              <a:spcAft>
                <a:spcPts val="7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Investigate outliers and product-level losses with business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Test whether results persist across time periods.</a:t>
            </a:r>
          </a:p>
          <a:p>
            <a:pPr>
              <a:spcAft>
                <a:spcPts val="7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Document SQL execution and database setup steps.</a:t>
            </a:r>
          </a:p>
          <a:p>
            <a:pPr>
              <a:spcAft>
                <a:spcPts val="7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Check KPI definitions and all slicers.</a:t>
            </a:r>
          </a:p>
          <a:p>
            <a:pPr>
              <a:spcAft>
                <a:spcPts val="700"/>
              </a:spcAft>
              <a:defRPr sz="1600" b="0">
                <a:solidFill>
                  <a:srgbClr val="2D3748"/>
                </a:solidFill>
                <a:latin typeface="Aptos"/>
              </a:defRPr>
            </a:pPr>
            <a:r>
              <a:t>•  Capture a genuine screenshot of the completed Power BI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NEXAFRICA DATA ANALYST INTERNSHIP  |  SUPERSTORE 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68C83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Overall sales are strong, but profitability is uneven.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DCE4EF"/>
                </a:solidFill>
                <a:latin typeface="Aptos"/>
              </a:defRPr>
            </a:pPr>
            <a:r>
              <a:t>The analysis highlights Furniture’s low margin, Tables’ losses, negative profit in higher discount bands, and Central’s lower margin. These findings are a starting point for targeted investigation—not a substitute for validating root causes.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68C83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ECCE0"/>
                </a:solidFill>
                <a:latin typeface="Aptos"/>
              </a:defRPr>
            </a:pPr>
            <a:r>
              <a:t>Questions and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4748B"/>
                </a:solidFill>
                <a:latin typeface="Aptos"/>
              </a:defRPr>
            </a:pPr>
            <a:r>
              <a:t>NEXAFRICA DATA ANALYST INTERNSHIP  |  SUPERSTORE 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